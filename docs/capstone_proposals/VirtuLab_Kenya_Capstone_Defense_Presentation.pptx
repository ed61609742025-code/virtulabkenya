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C59B27"/>
                </a:solidFill>
                <a:latin typeface="Arial"/>
              </a:defRPr>
            </a:pPr>
            <a:r>
              <a:t>OPEN UNIVERSITY OF KENYA  |  SCHOOL OF EDUCATION</a:t>
            </a:r>
          </a:p>
          <a:p>
            <a:pPr algn="ctr">
              <a:defRPr sz="1100">
                <a:solidFill>
                  <a:srgbClr val="C8D7EB"/>
                </a:solidFill>
                <a:latin typeface="Arial"/>
              </a:defRPr>
            </a:pPr>
            <a:r>
              <a:t>DEPARTMENT OF TECHNOLOGY EDUCATION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Georgia"/>
              </a:defRPr>
            </a:pPr>
            <a:r>
              <a:t>VIRTULAB KENYA: DESIGN, DEVELOPMENT AND EVALUATION OF A WEB-BASED VIRTUAL CHEMISTRY LABORATORY FOR KCSE AND CBE LEARNERS IN KENYAN SECONDARY SCHOOLS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931920"/>
            <a:ext cx="3962095" cy="45720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DCE6F2"/>
                </a:solidFill>
                <a:latin typeface="Arial"/>
              </a:defRPr>
            </a:pPr>
            <a:r>
              <a:t>Master of Science in Learning Design and Technology — Capstone Project Proposal Defense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4937760"/>
            <a:ext cx="8168335" cy="1280160"/>
          </a:xfrm>
          <a:prstGeom prst="roundRect">
            <a:avLst/>
          </a:prstGeom>
          <a:solidFill>
            <a:srgbClr val="123056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5029200"/>
            <a:ext cx="374903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59B27"/>
                </a:solidFill>
              </a:defRPr>
            </a:pPr>
            <a:r>
              <a:t>CANDIDATE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Harrison Tellah Museni</a:t>
            </a:r>
          </a:p>
          <a:p>
            <a:pPr>
              <a:defRPr sz="1100">
                <a:solidFill>
                  <a:srgbClr val="C8D7EB"/>
                </a:solidFill>
              </a:defRPr>
            </a:pPr>
            <a:r>
              <a:t>Reg. No: ED61/6061/2025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5029200"/>
            <a:ext cx="374903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59B27"/>
                </a:solidFill>
              </a:defRPr>
            </a:pPr>
            <a:r>
              <a:t>UNIVERSITY SUPERVISOR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Prof. Wambua Benjamin Kyalo, PhD</a:t>
            </a:r>
          </a:p>
          <a:p>
            <a:pPr>
              <a:defRPr sz="1100">
                <a:solidFill>
                  <a:srgbClr val="C8D7EB"/>
                </a:solidFill>
              </a:defRPr>
            </a:pPr>
            <a:r>
              <a:t>School of Education — Technology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9B27"/>
                </a:solidFill>
                <a:latin typeface="Arial"/>
              </a:defRPr>
            </a:pPr>
            <a:r>
              <a:t>CAPSTONE PROJECT PROPOSAL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Georgia"/>
              </a:defRPr>
            </a:pPr>
            <a:r>
              <a:t>Background to the Study &amp; National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2340"/>
                </a:solidFill>
                <a:latin typeface="Georgia"/>
              </a:defRPr>
            </a:pPr>
            <a:r>
              <a:t>National STEM Policy Mandate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t>Kenya’s Vision 2030 and the National Education Sector Strategic Plan (NESSP) place STEM at the heart of industrialisation and national socio-economic transformation.</a:t>
            </a:r>
          </a:p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t>Both the ongoing Competency-Based Curriculum (CBC) transition and the 8-4-4 secondary framework demand active inquiry and hands-on experimentation over passive rote memorisation.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08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2340"/>
                </a:solidFill>
                <a:latin typeface="Georgia"/>
              </a:defRPr>
            </a:pPr>
            <a:r>
              <a:t>KCSE Paper 3 (233/3) Weighting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116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t>In secondary Chemistry, laboratory work constitutes a compulsory standalone national examination paper: KCSE Paper 3 (Subject Code 233/3).</a:t>
            </a:r>
          </a:p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t>Paper 3 commands 40% of the candidate's final Chemistry grade. A candidate cannot pass Chemistry without mastering practical laboratory techniques.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291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5087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2340"/>
                </a:solidFill>
                <a:latin typeface="Georgia"/>
              </a:defRPr>
            </a:pPr>
            <a:r>
              <a:t>Mandatory Exam Competencies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0116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Precision burette handling, dropwise flow regulation, and meniscus zeroing to 0.05 cm³.</a:t>
            </a:r>
          </a:p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Concordant titre determination within ±0.10 cm³ to ±0.20 cm³ tolerances.</a:t>
            </a:r>
          </a:p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Systematic qualitative analysis (cation/anion dropwise testing and gas identification).</a:t>
            </a:r>
          </a:p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Reaction kinetics, thermochemical calculations (mcΔT), and organic functional testing.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9B27"/>
                </a:solidFill>
                <a:latin typeface="Arial"/>
              </a:defRPr>
            </a:pPr>
            <a:r>
              <a:t>CAPSTONE PROJECT PROPOSAL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Georgia"/>
              </a:defRPr>
            </a:pPr>
            <a:r>
              <a:t>The Problem: The Secondary Laboratory Infrastructure Crisis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13716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91C1C"/>
                </a:solidFill>
                <a:latin typeface="Georgia"/>
              </a:defRPr>
            </a:pPr>
            <a:r>
              <a:t>Over 60% of Kenyan secondary schools—predominantly public Sub-County Day Secondary Schools enrolling over 65% of all students—lack functional science laboratories, consumable reagents, piped water, or trained laboratory technicians.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33832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2340"/>
                </a:solidFill>
                <a:latin typeface="Georgia"/>
              </a:defRPr>
            </a:pPr>
            <a:r>
              <a:t>Reagent Cost &amp; Rationing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Chemical reagents (AgNO3, KMnO4, indicators) are costly and degrade rapidly. Schools operating on delayed FDSE capitation lock chemical stores until weeks before KCSE, denying students routine experimental practice.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017520"/>
            <a:ext cx="33832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1546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2340"/>
                </a:solidFill>
                <a:latin typeface="Georgia"/>
              </a:defRPr>
            </a:pPr>
            <a:r>
              <a:t>Class Sizes &amp; Safety Bottlenecks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56616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Student-teacher ratios exceed 50:1. Conducting wet-chemistry with hot acids and toxic gases in crowded, unventilated rooms creates severe safety hazards. Teachers resort to theoretical chalkboard lectures.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017520"/>
            <a:ext cx="33832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31546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2340"/>
                </a:solidFill>
                <a:latin typeface="Georgia"/>
              </a:defRPr>
            </a:pPr>
            <a:r>
              <a:t>The Failure of Global Virtual Labs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56616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Foreign tools like Labster and PhET fail in rural Kenya: expensive subscriptions, heavy 3D graphics that crash budget Android phones, internet dependence, and zero alignment with KNEC Paper 3 rubrics.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9B27"/>
                </a:solidFill>
                <a:latin typeface="Arial"/>
              </a:defRPr>
            </a:pPr>
            <a:r>
              <a:t>CAPSTONE PROJECT PROPOSAL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Georgia"/>
              </a:defRPr>
            </a:pPr>
            <a:r>
              <a:t>Project Purpose &amp; Specific Research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137160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2340"/>
                </a:solidFill>
                <a:latin typeface="Georgia"/>
              </a:defRPr>
            </a:pPr>
            <a:r>
              <a:t>General 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3A8A"/>
                </a:solidFill>
                <a:latin typeface="Georgia"/>
              </a:defRPr>
            </a:pPr>
            <a:r>
              <a:t>To design, develop, deploy, and empirically evaluate an offline-first, KICD-aligned virtual chemistry laboratory platform (VirtuLab Kenya) that enables secondary school learners in under-resourced schools to acquire essential practical competencies and improve performance in KCSE Chemistry Paper 3.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521208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632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2340"/>
                </a:solidFill>
                <a:latin typeface="Georgia"/>
              </a:defRPr>
            </a:pPr>
            <a:r>
              <a:t>Specific Objectives (Technical &amp; Pedagogical)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1. Design &amp; Engineering: Build a lightweight, responsive PWA featuring 7 laboratory modules covering all KCSE Paper 3 domains with English/Kiswahili bilingual UI.</a:t>
            </a:r>
          </a:p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2. Cognitive Scaffolding: Implement meniscus magnification, real-time color kinetics, concordance checks (±0.10 cm³), and step-by-step stoichiometry feedback.</a:t>
            </a:r>
          </a:p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3. Teacher Diagnostics: Develop a teacher analytics dashboard providing real-time class monitoring, error classification, and assignment dispatch.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926080"/>
            <a:ext cx="5242255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063240"/>
            <a:ext cx="48764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2340"/>
                </a:solidFill>
                <a:latin typeface="Georgia"/>
              </a:defRPr>
            </a:pPr>
            <a:r>
              <a:t>Specific Objectives (Evaluation &amp; Policy)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474720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t>4. Empirical Evaluation: Conduct a convergent mixed-methods quasi-experimental pilot across 10 stratified schools (N ≈ 600 students, N ≈ 20 teachers) measuring learning gains, usability (SUS), and acceptance (TAM 3).</a:t>
            </a:r>
          </a:p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t>5. Policy &amp; Dissemination: Formulate actionable policy guidelines and an open-access deployment framework for institutional adoption by KICD, CEMASTEA, and the Ministry of Education.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9B27"/>
                </a:solidFill>
                <a:latin typeface="Arial"/>
              </a:defRPr>
            </a:pPr>
            <a:r>
              <a:t>CAPSTONE PROJECT PROPOSAL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Georgia"/>
              </a:defRPr>
            </a:pPr>
            <a:r>
              <a:t>Research Questions &amp; Hypotheses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2340"/>
                </a:solidFill>
                <a:latin typeface="Georgia"/>
              </a:defRPr>
            </a:pPr>
            <a:r>
              <a:t>Core Research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RQ1 (Learning Gains): To what extent does VirtuLab Kenya improve students' conceptual understanding and practical problem-solving scores in KCSE Paper 3 compared to traditional lecture/demonstration instruction?</a:t>
            </a:r>
          </a:p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RQ2 (Interface Usability): How usable, accessible, and responsive is the offline PWA interface on budget mobile devices in low-connectivity schools, as measured by the System Usability Scale (SUS ≥ 78)?</a:t>
            </a:r>
          </a:p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RQ3 (Technological Acceptance): What are teachers' and students' perceptions regarding Perceived Usefulness, Perceived Ease of Use, and Behavioural Intention under TAM 3?</a:t>
            </a:r>
          </a:p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RQ4 (Diagnostic Utility): How effectively do automated server error logs enable teachers to identify and remediate misconceptions in real time?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4225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764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2340"/>
                </a:solidFill>
                <a:latin typeface="Georgia"/>
              </a:defRPr>
            </a:pPr>
            <a:r>
              <a:t>Empirical Hypotheses Tested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91C1C"/>
                </a:solidFill>
              </a:defRPr>
            </a:pPr>
            <a:r>
              <a:t>Null Hypothesis (H0):</a:t>
            </a:r>
          </a:p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t>There is no statistically significant difference in KCSE Chemistry Paper 3 post-test scores between learners using VirtuLab Kenya and learners taught through traditional classroom instruction without physical lab access (p &gt; 0.05).</a:t>
            </a:r>
          </a:p>
          <a:p>
            <a:pPr>
              <a:defRPr sz="1300" b="1">
                <a:solidFill>
                  <a:srgbClr val="166534"/>
                </a:solidFill>
              </a:defRPr>
            </a:pPr>
            <a:r>
              <a:t>Alternative Hypothesis (H1):</a:t>
            </a:r>
          </a:p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t>Learners utilizing VirtuLab Kenya will demonstrate a statistically significant gain in post-test scores and practical competency metrics compared to the control group (p &lt; 0.05, normalised learning gain g ≥ 0.40).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9B27"/>
                </a:solidFill>
                <a:latin typeface="Arial"/>
              </a:defRPr>
            </a:pPr>
            <a:r>
              <a:t>CAPSTONE PROJECT PROPOSAL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Georgia"/>
              </a:defRPr>
            </a:pPr>
            <a:r>
              <a:t>Theoretical Grounding &amp; Pedagogical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5146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2340"/>
                </a:solidFill>
                <a:latin typeface="Georgia"/>
              </a:defRPr>
            </a:pPr>
            <a:r>
              <a:t>Constructivism &amp; IBSE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2240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59B27"/>
                </a:solidFill>
              </a:defRPr>
            </a:pPr>
            <a:r>
              <a:t>Piaget (1973) &amp; Bybee (2009)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Learners construct schemas through active variable manipulation (reagent volume, temperature, drop speed) and observing dynamic reactions. Operationalised via Bybee’s 5E Instructional Model (Engage, Explore, Explain, Elaborate, Evaluate).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371600"/>
            <a:ext cx="25146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5087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2340"/>
                </a:solidFill>
                <a:latin typeface="Georgia"/>
              </a:defRPr>
            </a:pPr>
            <a:r>
              <a:t>Vygotsky's ZPD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1920240"/>
            <a:ext cx="2240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59B27"/>
                </a:solidFill>
              </a:defRPr>
            </a:pPr>
            <a:r>
              <a:t>Vygotsky (1978) - Scaffolding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Zone of Proximal Development is operationalised through a dual-tier interface: Guided Mode provides hints and validation for beginners, while Exam Mode removes scaffolds under timed KCSE conditions.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5146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087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2340"/>
                </a:solidFill>
                <a:latin typeface="Georgia"/>
              </a:defRPr>
            </a:pPr>
            <a:r>
              <a:t>CTML &amp; Cognitive 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920240"/>
            <a:ext cx="2240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59B27"/>
                </a:solidFill>
              </a:defRPr>
            </a:pPr>
            <a:r>
              <a:t>Mayer (2009) &amp; Sweller (1988)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Spatial Contiguity co-locates apparatus and readouts to prevent split attention. Signalling subtly flashes meniscus and end-point color cues. Segmenting partitions complex titration steps.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371600"/>
            <a:ext cx="25146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5087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2340"/>
                </a:solidFill>
                <a:latin typeface="Georgia"/>
              </a:defRPr>
            </a:pPr>
            <a:r>
              <a:t>Technology Acceptance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1920240"/>
            <a:ext cx="2240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59B27"/>
                </a:solidFill>
              </a:defRPr>
            </a:pPr>
            <a:r>
              <a:t>Davis (1989) &amp; Venkatesh (2008)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TAM 3 evaluates Perceived Usefulness, Perceived Ease of Use, and Facilitating Conditions (device access, offline ability) as direct predictors of Behavioural Intention and sustained adoption.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9B27"/>
                </a:solidFill>
                <a:latin typeface="Arial"/>
              </a:defRPr>
            </a:pPr>
            <a:r>
              <a:t>CAPSTONE PROJECT PROPOSAL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Georgia"/>
              </a:defRPr>
            </a:pPr>
            <a:r>
              <a:t>System Architecture: Frugal, Offline-First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14630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2340"/>
                </a:solidFill>
                <a:latin typeface="Georgia"/>
              </a:defRPr>
            </a:pPr>
            <a:r>
              <a:t>CLIENT TIER — Progressive Web App (PWA)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Semantic HTML5, Modular Vanilla CSS3, Vanilla ECMAScript 2022 (Zero React/Vue bundle penalty). Service Worker Cache-First strategy. Runs 100% offline. Student dashboard, simulation engine, and local IndexedDB session cache. Cold load &lt;250ms on 3G.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10728655" cy="14630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2340"/>
                </a:solidFill>
                <a:latin typeface="Georgia"/>
              </a:defRPr>
            </a:pPr>
            <a:r>
              <a:t>SERVER TIER — Node.js &amp; Express REST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Express REST API Gateway (/api/auth, /api/sessions, /api/assignments). JWT verification, bcrypt password hashing, role-based access control (Student, Teacher, Admin), helmet security headers, and background telemetry synchronization queue.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10728655" cy="16459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2340"/>
                </a:solidFill>
                <a:latin typeface="Georgia"/>
              </a:defRPr>
            </a:pPr>
            <a:r>
              <a:t>DATABASE TIER — PostgreSQL Relational Schema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20640"/>
            <a:ext cx="10332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Relational integrity with foreign keys across users, schools, classes, lab_sessions, assignments, badges, and error_telemetry. B-tree indexes for fast concurrent querying during classroom sync spikes. Full compliance with the Kenya Data Protection Act 2019.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9B27"/>
                </a:solidFill>
                <a:latin typeface="Arial"/>
              </a:defRPr>
            </a:pPr>
            <a:r>
              <a:t>CAPSTONE PROJECT PROPOSAL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Georgia"/>
              </a:defRPr>
            </a:pPr>
            <a:r>
              <a:t>Curricular Alignment: 7 Core KCSE Paper 3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840480"/>
                <a:gridCol w="3200400"/>
                <a:gridCol w="1676095"/>
              </a:tblGrid>
              <a:tr h="6172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Simulated Chemical Experiment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Target KCSE Practical Skills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Syllabus Ref.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1. Volumetric Analysis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Acid-Base, Redox, Precipitation, Complexometric Titrations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Pipette priming, burette flow, end-point, concordant titres (±0.10 cm³)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Form 3/4, Paper 3 Q1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2. Qualitative Inorganic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Cations (Fe2+, Cu2+, Al3+, etc.), Anions, Flame tests &amp; gas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Dropwise addition to excess, precipitate dissolution observation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Form 4, Paper 3 Q2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3. Chemical Kinetics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Thiosulphate + acid (disappearing cross), Mg ribbon + acid volume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Reaction rate curve plotting, gradient calculation, collision theory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Form 4, Paper 3 Q3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4. Chemical Energetics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Enthalpy of neutralisation, enthalpy of solution &amp; displacement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Temperature-time cooling curve extrapolation, mcΔT calculation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Form 4, Paper 3 Q3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5. Solubility Curves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KClO3 crystallisation temperature measurement across dilutions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Cooling curve determination, solubility curve generation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Form 3, Topic 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6. Qualitative Organic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Saturated vs unsaturated, carboxylic acids, alkanol esterification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Organic observation table recording, functional group deduction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Form 4, Org Chem II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7. Composite Mock Exam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Full 3-question timed composite practical replicating KCSE Paper 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Exam pacing, data transcription, comprehensive mark-scheme grading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All Forms (Summative)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9B27"/>
                </a:solidFill>
                <a:latin typeface="Arial"/>
              </a:defRPr>
            </a:pPr>
            <a:r>
              <a:t>CAPSTONE PROJECT PROPOSAL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Georgia"/>
              </a:defRPr>
            </a:pPr>
            <a:r>
              <a:t>Methodology: Convergent Mixed-Methods Quasi-Experiment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2340"/>
                </a:solidFill>
                <a:latin typeface="Georgia"/>
              </a:defRPr>
            </a:pPr>
            <a:r>
              <a:t>Quasi-Experimental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Pre-test / Post-test Non-Equivalent Control Group Design</a:t>
            </a:r>
          </a:p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Due to established school streams, individual random assignment is impossible. Intact classroom streams participate.</a:t>
            </a:r>
          </a:p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• Experimental Group: Hybrid instruction using VirtuLab Kenya for pre-lab prep, guided simulation practice, and homework (8-week intervention).</a:t>
            </a:r>
          </a:p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• Control Group: Traditional instruction (standard textbooks, chalkboard sketches, and teacher demonstrations) without virtual lab tools.</a:t>
            </a:r>
          </a:p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Threats to internal validity controlled through teacher pacing guides and statistical control via ANCOVA.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4225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764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2340"/>
                </a:solidFill>
                <a:latin typeface="Georgia"/>
              </a:defRPr>
            </a:pPr>
            <a:r>
              <a:t>Stratified Sampling Matrix (N ≈ 600)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Stratified Purposive &amp; Multi-Stage Cluster Sampling</a:t>
            </a:r>
          </a:p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Stratum 1: National &amp; Extra-County Schools (High physical lab infrastructure baseline) — 2 schools, n ≈ 120 students, 4 teachers.</a:t>
            </a:r>
          </a:p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Stratum 2: County Secondary Schools (Moderate lab infrastructure baseline) — 3 schools, n ≈ 180 students, 6 teachers.</a:t>
            </a:r>
          </a:p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Stratum 3: Sub-County Day Secondary Schools (Low/zero lab infrastructure baseline) — 5 schools, n ≈ 300 students, 10 teachers.</a:t>
            </a:r>
          </a:p>
          <a:p>
            <a:pPr>
              <a:defRPr sz="1150" b="1">
                <a:solidFill>
                  <a:srgbClr val="0C2340"/>
                </a:solidFill>
              </a:defRPr>
            </a:pPr>
            <a:r>
              <a:t>Total Cohort: 10 Schools, ≈ 600 Form 3 &amp; 4 Students, 20 Chemistry Teachers across Nairobi, Machakos, and Kiambu counties.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9B27"/>
                </a:solidFill>
                <a:latin typeface="Arial"/>
              </a:defRPr>
            </a:pPr>
            <a:r>
              <a:t>CAPSTONE PROJECT PROPOSAL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Georgia"/>
              </a:defRPr>
            </a:pPr>
            <a:r>
              <a:t>Data Collection Instruments &amp; Statistical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2340"/>
                </a:solidFill>
                <a:latin typeface="Georgia"/>
              </a:defRPr>
            </a:pPr>
            <a:r>
              <a:t>Data Collection Instruments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1. CPCAT Achievement Test: 40-mark criterion-referenced pre/post test aligned with KNEC Paper 3 rubrics (validated by KICD specialists &amp; KCSE examiners, CVI ≥ 0.85).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2. System Usability Scale (SUS): 10-item international usability scale (Brooke, 1996) administered post-intervention. Benchmark threshold: SUS ≥ 78 (Grade A).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3. TAM 3 Questionnaire: 5-point Likert survey measuring PU, PEOU, Facilitating Conditions, and Behavioural Intention (Cronbach's α ≥ 0.80).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4. Automated Server Telemetry: Trial counts, titration error rates, concordant percentages (±0.10 cm³), time-on-task.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5. Qualitative Interviews &amp; Focus Groups: Teacher in-depth interviews &amp; student FGDs exploring classroom dynamics and workload.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4225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764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2340"/>
                </a:solidFill>
                <a:latin typeface="Georgia"/>
              </a:defRPr>
            </a:pPr>
            <a:r>
              <a:t>Statistical Data Analysis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Learning Gain Calculation: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Hake's Average Normalised Learning Gain (g):</a:t>
            </a:r>
          </a:p>
          <a:p>
            <a:pPr>
              <a:defRPr sz="1150" b="1">
                <a:solidFill>
                  <a:srgbClr val="0C2340"/>
                </a:solidFill>
              </a:defRPr>
            </a:pPr>
            <a:r>
              <a:t>g = (%Post-test - %Pre-test) / (100% - %Pre-test)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Target: g ≥ 0.40 (Medium to High Gain).</a:t>
            </a:r>
          </a:p>
          <a:p>
            <a:pPr>
              <a:defRPr sz="1200" b="1">
                <a:solidFill>
                  <a:srgbClr val="1E3A8A"/>
                </a:solidFill>
              </a:defRPr>
            </a:pPr>
            <a:r>
              <a:t>Inferential Testing &amp; Effect Size: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• ANCOVA: Tests post-test differences between Experimental and Control groups while controlling baseline pre-test scores as a covariate.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• Cohen's d: Establishes educational practical significance.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• Thematic Coding: Inductive qualitative analysis of transcripts.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9B27"/>
                </a:solidFill>
                <a:latin typeface="Arial"/>
              </a:defRPr>
            </a:pPr>
            <a:r>
              <a:t>CAPSTONE PROJECT PROPOSAL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Georgia"/>
              </a:defRPr>
            </a:pPr>
            <a:r>
              <a:t>Working Prototype &amp; Completed Development Milestones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2340"/>
                </a:solidFill>
                <a:latin typeface="Georgia"/>
              </a:defRPr>
            </a:pPr>
            <a:r>
              <a:t>Current Prototype Accomplishments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Fully functional single-page PWA prototype completed and tested locally: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• 4 Titration Types operational (Acid-Base, Redox, Precipitation, Complexometric).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• Interactive dropper pipette mechanic &amp; magnified burette reading viewport (0.05 cm³ resolution).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• Automated KNEC table validation checking concordance within ±0.10 cm³.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• Dynamic real-time pH titration curves.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• 17 Genuine KCSE Past Paper Practical Questions (1989–2013) with full answer verification.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4225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764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2340"/>
                </a:solidFill>
                <a:latin typeface="Georgia"/>
              </a:defRPr>
            </a:pPr>
            <a:r>
              <a:t>User-Centred Iterations Completed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Refinements from Early Teacher &amp; Student Feedback: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1. Reagent Dropper Tool: Added after early testers struggled with burette stopcock tap sensitivity on touchscreens.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2. 5-Tab Workspace Hierarchy: Restructured sprawling screen into Experiment, Results Table, Calculation, Past Papers, and Help to prevent visual overload.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3. Mobile Touch Optimization: Expanded button tap areas to ≥ 48x48 px for low-cost Android smartphones.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4. Three Visual Themes: Clean White (outdoor glare), Slate Blue Dark (night revision), and Lab Green (accessibility).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9B27"/>
                </a:solidFill>
                <a:latin typeface="Arial"/>
              </a:defRPr>
            </a:pPr>
            <a:r>
              <a:t>CAPSTONE PROJECT PROPOSAL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Georgia"/>
              </a:defRPr>
            </a:pPr>
            <a:r>
              <a:t>Implementation Timeline &amp; Sustainable Budget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2340"/>
                </a:solidFill>
                <a:latin typeface="Georgia"/>
              </a:defRPr>
            </a:pPr>
            <a:r>
              <a:t>12-Month Project Timeline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Phase 1 (Months 1–2): Requirements, KICD matrix, Node.js backend, PWA service worker scaffolding.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Phase 2 (Months 3–4): Volumetric titration engine (4 types), chemical kinetics &amp; equilibrium models.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Phase 3 (Months 5–6): Qualitative inorganic analysis, energetics, solubility curves, student badge portal.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Phase 4 (Months 7–8): Teacher analytics dashboard, assignment broadcasting, composite mock exam engine.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Phase 5 (Months 9–10): NACOSTI clearance, onboarding 10 pilot schools, pre-testing, 8-week intervention.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Phase 6 (Months 11–12): Post-testing, TAM/SUS surveys, ANCOVA analysis, dissertation defense, policy brief.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4225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764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2340"/>
                </a:solidFill>
                <a:latin typeface="Georgia"/>
              </a:defRPr>
            </a:pPr>
            <a:r>
              <a:t>Itemized Project Budget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6534"/>
                </a:solidFill>
              </a:defRPr>
            </a:pPr>
            <a:r>
              <a:t>Total Projected Budget: KES 328,900 (~ $2,530 USD)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1. Cloud Infrastructure &amp; Hosting (12 mos): KES 54,000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2. Pilot Hardware Support (10 Refurbished Android Tablets for under-resourced day schools): KES 120,000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3. Field Research &amp; Travel (10 Schools, Workshops): KES 60,000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4. Printing &amp; Materials (600 CPCAT Booklets): KES 30,000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5. NACOSTI Research Permit &amp; Ethics: KES 10,000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6. Dissemination &amp; Journal Publication: KES 25,000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7. Operational Contingency Reserve (10%): KES 29,900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9B27"/>
                </a:solidFill>
                <a:latin typeface="Arial"/>
              </a:defRPr>
            </a:pPr>
            <a:r>
              <a:t>CAPSTONE PROJECT PROPOSAL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Georgia"/>
              </a:defRPr>
            </a:pPr>
            <a:r>
              <a:t>Ethical Governance &amp; Risk Mitigation Strategies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2340"/>
                </a:solidFill>
                <a:latin typeface="Georgia"/>
              </a:defRPr>
            </a:pPr>
            <a:r>
              <a:t>Ethical Clearance &amp; Data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Statutory Ethical Protocols: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• NACOSTI research license &amp; Open University of Kenya Directorate of Research clearance.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• County Director of Education administrative permissions in Nairobi, Machakos, and Kiambu counties.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• Parental consent &amp; student assent for participating minors; voluntary withdrawal with zero academic penalty.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• Strict compliance with Kenya Data Protection Act 2019: Anonymized student research IDs (STU-XXXX), bcrypt password hashing, and encrypted database storage.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4225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764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2340"/>
                </a:solidFill>
                <a:latin typeface="Georgia"/>
              </a:defRPr>
            </a:pPr>
            <a:r>
              <a:t>Anticipated Risks &amp; Concrete Mitigations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2340"/>
                </a:solidFill>
              </a:defRPr>
            </a:pPr>
            <a:r>
              <a:t>Intermittent/Zero Internet in Rural Schools: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Mitigation: Offline-first PWA with Service Worker pre-caching; full simulation runs offline; telemetry auto-syncs on reconnect.</a:t>
            </a:r>
          </a:p>
          <a:p>
            <a:pPr>
              <a:defRPr sz="1100" b="1">
                <a:solidFill>
                  <a:srgbClr val="0C2340"/>
                </a:solidFill>
              </a:defRPr>
            </a:pPr>
            <a:r>
              <a:t>Hardware Shortages in Sub-County Day Schools: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Mitigation: 10 refurbished Android tablets provided; collaborative pair-practice protocol (Technician vs Analyst).</a:t>
            </a:r>
          </a:p>
          <a:p>
            <a:pPr>
              <a:defRPr sz="1100" b="1">
                <a:solidFill>
                  <a:srgbClr val="0C2340"/>
                </a:solidFill>
              </a:defRPr>
            </a:pPr>
            <a:r>
              <a:t>Power Grid Blackouts: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Mitigation: Solar-powered battery power packs provided with tablets to maintain battery charge.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9B27"/>
                </a:solidFill>
                <a:latin typeface="Arial"/>
              </a:defRPr>
            </a:pPr>
            <a:r>
              <a:t>CAPSTONE PROJECT PROPOSAL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Georgia"/>
              </a:defRPr>
            </a:pPr>
            <a:r>
              <a:t>Expected Deliverables &amp; Policy Significance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2340"/>
                </a:solidFill>
                <a:latin typeface="Georgia"/>
              </a:defRPr>
            </a:pPr>
            <a:r>
              <a:t>1. Operational Open-Access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A production-grade, open-source virtual chemistry laboratory PWA hosted at zero cost to Kenyan learners, teachers, and institutions under an MIT open-source license.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422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764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2340"/>
                </a:solidFill>
                <a:latin typeface="Georgia"/>
              </a:defRPr>
            </a:pPr>
            <a:r>
              <a:t>2. Master's Research Dissertation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An empirically rigorous Master of Science dissertation documenting learning gains, effect sizes, and adoption factors across Kenyan secondary school tiers.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69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2340"/>
                </a:solidFill>
                <a:latin typeface="Georgia"/>
              </a:defRPr>
            </a:pPr>
            <a:r>
              <a:t>3. Policy Brief for KICD &amp; MoE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8912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An actionable policy white paper submitted to KICD, CEMASTEA, and the Ministry of Education detailing strategic frameworks for scaling offline virtual STEM labs under the CBC Senior Secondary STEM pathway.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31920"/>
            <a:ext cx="5242255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069080"/>
            <a:ext cx="48764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2340"/>
                </a:solidFill>
                <a:latin typeface="Georgia"/>
              </a:defRPr>
            </a:pPr>
            <a:r>
              <a:t>4. Peer-Reviewed Journal Publication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38912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  <a:latin typeface="Arial"/>
              </a:defRPr>
            </a:pPr>
            <a:r>
              <a:t>Empirical findings submitted to reputable journals such as Computers &amp; Education, Journal of Science Education and Technology, or the African Journal of Research in Mathematics, Science and Technology Education.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C59B27"/>
                </a:solidFill>
                <a:latin typeface="Arial"/>
              </a:defRPr>
            </a:pPr>
            <a:r>
              <a:t>CONCLUSION &amp; CORE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4849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FFFFFF"/>
                </a:solidFill>
                <a:latin typeface="Georgia"/>
              </a:defRPr>
            </a:pPr>
            <a:r>
              <a:t>“Underperformance in KCSE Chemistry Paper 3 is not an intellectual deficit among students; it is an infrastructure deficit. VirtuLab Kenya demonstrates that thoughtful instructional design, coupled with frugal, offline-first web technologies, can democratise practical science learning and deliver equity to Kenya’s most under-resourced classrooms.”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4389120"/>
            <a:ext cx="5790895" cy="1645920"/>
          </a:xfrm>
          <a:prstGeom prst="roundRect">
            <a:avLst/>
          </a:prstGeom>
          <a:solidFill>
            <a:srgbClr val="123056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0" y="4572000"/>
            <a:ext cx="542513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THANK YOU FOR YOUR ATTENTION</a:t>
            </a:r>
          </a:p>
          <a:p>
            <a:pPr algn="ctr">
              <a:defRPr sz="1200">
                <a:solidFill>
                  <a:srgbClr val="C8D7EB"/>
                </a:solidFill>
              </a:defRPr>
            </a:pPr>
            <a:r>
              <a:t>I warmly welcome questions, critique, and guidance from the examination panel.</a:t>
            </a:r>
          </a:p>
          <a:p>
            <a:pPr algn="ctr">
              <a:defRPr sz="1100" i="1">
                <a:solidFill>
                  <a:srgbClr val="C59B27"/>
                </a:solidFill>
              </a:defRPr>
            </a:pPr>
            <a:r>
              <a:t>Harrison Tellah Museni | ED61/6061/2025 | Open University of Kenya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